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73BA6-79EC-A295-A9C3-34AF41EEE8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C0535A-AAE2-E1CD-DD75-DD014C3AF9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2F847D-E528-04AB-9094-D46FA92EF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35CCB-0351-499B-9540-23B989305EE1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6DF6FC-865D-A274-0864-5B4D3EB92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4EE57D-B438-9558-29E7-F4E472233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4F5A6-7B26-42CD-B2C0-23ACB9637F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579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0BE02-6355-B900-C62C-87A2E1E7D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70E19B-8939-85C5-9354-1E84CDA447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13EB14-59E9-FACA-F6B6-848C19D7A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35CCB-0351-499B-9540-23B989305EE1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49F41D-5BF6-1AD0-663F-66C6E0071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975860-D019-86B6-5E05-26BE60BE3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4F5A6-7B26-42CD-B2C0-23ACB9637F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556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66E7A-A226-7B42-C509-4BAB80882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9BAEDF-0352-B672-ABD6-36DF48081E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B2D1BE-51EF-C994-FB95-D77935275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35CCB-0351-499B-9540-23B989305EE1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22BBE3-8F26-7040-347D-4FBFA7089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F81D71-3AE4-319F-CD11-A288CFA46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4F5A6-7B26-42CD-B2C0-23ACB9637F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857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5E6AF-EB6C-7694-C506-E8158BE7B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9EA55-59A2-40A3-DFEE-96DB1E942C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6216CA-455D-188F-7876-D6DA26F2F8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3F6FA6-54EA-87D5-DC28-725E9F877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35CCB-0351-499B-9540-23B989305EE1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428B24-DAE0-2854-39C4-F17F0A897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9DD022-315F-5F2B-C4E7-8FDF88AD3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4F5A6-7B26-42CD-B2C0-23ACB9637F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2711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7B203-1493-F8C0-5802-CA1C57077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D12074-95D8-112B-6C0D-CAC82CB75A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EF6EBB-E8A5-28B4-6C8D-1325FC81B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FE77D9-17F6-5340-D2B5-D042A0E3C5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67BA07-E45A-5D80-B94D-C7680FDFD0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4CB6F2-4B6E-67F4-55AF-5874E84FA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35CCB-0351-499B-9540-23B989305EE1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8AA6DF-60EB-AFD0-8720-E66B82762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3282CE-1126-264E-5BB0-B6508D40C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4F5A6-7B26-42CD-B2C0-23ACB9637F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53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8EE8E-C182-69C0-F19C-8B96F4373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FE1DEA-3D3E-B6FF-A292-BC6EDE443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35CCB-0351-499B-9540-23B989305EE1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897E0E-09C1-6AFD-815E-C9C2B3E18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C8D9F8-FAEB-12AA-6543-AD3E6DC65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4F5A6-7B26-42CD-B2C0-23ACB9637F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489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C02557-E8C8-AC83-7EDF-D781F6A43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35CCB-0351-499B-9540-23B989305EE1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64D57B-3177-8C5B-8F58-377F13FEC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9CE884-5296-600F-3CA1-E0792CE19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4F5A6-7B26-42CD-B2C0-23ACB9637F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432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430E1-E079-3F12-0853-7FD237D74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9AC28D-25E8-1C2B-3A82-8CD5A33730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193F3A-E401-920D-D142-C0FF503AB1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09B388-C385-3BBB-135B-D0EC1A2BB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35CCB-0351-499B-9540-23B989305EE1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6780B4-64C1-9528-70AB-22356A889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A5E789-203A-1185-D6AA-909D78306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4F5A6-7B26-42CD-B2C0-23ACB9637F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402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2AE30-9C4B-AD80-2984-2680DA1C9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0DA88E-40F6-7EED-9301-CBC447595E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F21EA2-DBA8-939C-D863-1A69A06ABF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AEA9D0-70DA-59F2-508E-F6C016D72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35CCB-0351-499B-9540-23B989305EE1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B1FBF4-C63A-02F9-7A25-648D71D8C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EB2128-5202-2239-7DFE-BBDA1B68F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4F5A6-7B26-42CD-B2C0-23ACB9637F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8891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E4C42-9005-E8E4-37A0-7E5209650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DADB3E-BA4E-0DEE-55C0-EF8C880CE4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CDF931-24C1-644B-126D-25B643833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35CCB-0351-499B-9540-23B989305EE1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717E73-40D4-8AD0-F3A2-CFF67F8A8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9EEF32-8EEC-8979-2D31-1FF088B7F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4F5A6-7B26-42CD-B2C0-23ACB9637F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6979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9CBB46-2A6F-3CCE-9AC5-9A0D471593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A30FA8-FF5A-B6A3-453B-CEB57CA433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1AC581-F200-E6FA-993D-70C5985FC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35CCB-0351-499B-9540-23B989305EE1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26CCF-CEAD-CEA6-EB70-F70998D98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86AE32-9078-527D-F045-67FF09E09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4F5A6-7B26-42CD-B2C0-23ACB9637F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042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524412-A6AF-3865-81DC-085BED2A8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AED7B7-0A3C-C752-A543-7EBABA2775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BA6F19-7C4E-2C7B-216E-926B5A5ABF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F35CCB-0351-499B-9540-23B989305EE1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384E0F-74B9-2976-F7BF-171C5DC08B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F24FF-23B6-8C88-BD58-DD4D6E2A89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64F5A6-7B26-42CD-B2C0-23ACB9637F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652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019e28b9-748b-7902-b8dd-529333f62e5e.claudeusercontent.com/v1/design/projects/019e28b9-748b-7902-b8dd-529333f62e5e/serve/Opsimtech%20Site.html#cases" TargetMode="External"/><Relationship Id="rId3" Type="http://schemas.openxmlformats.org/officeDocument/2006/relationships/hyperlink" Target="https://019e28b9-748b-7902-b8dd-529333f62e5e.claudeusercontent.com/v1/design/projects/019e28b9-748b-7902-b8dd-529333f62e5e/serve/Opsimtech%20Site.html#problem" TargetMode="External"/><Relationship Id="rId7" Type="http://schemas.openxmlformats.org/officeDocument/2006/relationships/hyperlink" Target="https://019e28b9-748b-7902-b8dd-529333f62e5e.claudeusercontent.com/v1/design/projects/019e28b9-748b-7902-b8dd-529333f62e5e/serve/Opsimtech%20Site.html#method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019e28b9-748b-7902-b8dd-529333f62e5e.claudeusercontent.com/v1/design/projects/019e28b9-748b-7902-b8dd-529333f62e5e/serve/Opsimtech%20Site.html#products" TargetMode="External"/><Relationship Id="rId5" Type="http://schemas.openxmlformats.org/officeDocument/2006/relationships/hyperlink" Target="https://019e28b9-748b-7902-b8dd-529333f62e5e.claudeusercontent.com/v1/design/projects/019e28b9-748b-7902-b8dd-529333f62e5e/serve/Opsimtech%20Site.html#industries" TargetMode="External"/><Relationship Id="rId10" Type="http://schemas.openxmlformats.org/officeDocument/2006/relationships/image" Target="../media/image2.png"/><Relationship Id="rId4" Type="http://schemas.openxmlformats.org/officeDocument/2006/relationships/hyperlink" Target="https://019e28b9-748b-7902-b8dd-529333f62e5e.claudeusercontent.com/v1/design/projects/019e28b9-748b-7902-b8dd-529333f62e5e/serve/Opsimtech%20Site.html#stack" TargetMode="External"/><Relationship Id="rId9" Type="http://schemas.openxmlformats.org/officeDocument/2006/relationships/hyperlink" Target="https://019e28b9-748b-7902-b8dd-529333f62e5e.claudeusercontent.com/v1/design/projects/019e28b9-748b-7902-b8dd-529333f62e5e/serve/Opsimtech%20Site.html#top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9F82783-2E3D-2F92-C6CA-B3A23ED7C80D}"/>
              </a:ext>
            </a:extLst>
          </p:cNvPr>
          <p:cNvSpPr txBox="1"/>
          <p:nvPr/>
        </p:nvSpPr>
        <p:spPr>
          <a:xfrm>
            <a:off x="481781" y="2919785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chemeClr val="bg1"/>
                </a:solidFill>
                <a:effectLst/>
                <a:latin typeface="Inter"/>
              </a:rPr>
              <a:t>OpSimTech builds real-time digital twins that fuse high-fidelity physics simulation with AI — delivering the </a:t>
            </a:r>
            <a:r>
              <a:rPr lang="en-US" b="1" i="0" dirty="0">
                <a:solidFill>
                  <a:schemeClr val="bg1"/>
                </a:solidFill>
                <a:effectLst/>
                <a:latin typeface="Inter"/>
              </a:rPr>
              <a:t>speed of machine learning</a:t>
            </a:r>
            <a:r>
              <a:rPr lang="en-US" b="0" i="0" dirty="0">
                <a:solidFill>
                  <a:schemeClr val="bg1"/>
                </a:solidFill>
                <a:effectLst/>
                <a:latin typeface="Inter"/>
              </a:rPr>
              <a:t> with the </a:t>
            </a:r>
            <a:r>
              <a:rPr lang="en-US" b="1" i="0" dirty="0">
                <a:solidFill>
                  <a:schemeClr val="bg1"/>
                </a:solidFill>
                <a:effectLst/>
                <a:latin typeface="Inter"/>
              </a:rPr>
              <a:t>trustworthiness of engineering science.</a:t>
            </a: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735DC4-99A9-3F83-8902-BFCFCB8D8642}"/>
              </a:ext>
            </a:extLst>
          </p:cNvPr>
          <p:cNvSpPr txBox="1"/>
          <p:nvPr/>
        </p:nvSpPr>
        <p:spPr>
          <a:xfrm>
            <a:off x="540774" y="611461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0"/>
              </a:spcAft>
              <a:buNone/>
            </a:pPr>
            <a:r>
              <a:rPr lang="en-US" sz="4800" b="1" i="0" cap="all" dirty="0">
                <a:solidFill>
                  <a:srgbClr val="FFFFFF"/>
                </a:solidFill>
                <a:effectLst/>
                <a:latin typeface="Inter"/>
              </a:rPr>
              <a:t>The Physics-AI </a:t>
            </a:r>
            <a:r>
              <a:rPr lang="en-US" sz="4800" b="1" i="0" cap="all" dirty="0">
                <a:solidFill>
                  <a:srgbClr val="1AE0B5"/>
                </a:solidFill>
                <a:effectLst/>
                <a:latin typeface="Inter"/>
              </a:rPr>
              <a:t>Layer For </a:t>
            </a:r>
            <a:r>
              <a:rPr lang="en-US" sz="4800" b="1" i="0" cap="all" dirty="0">
                <a:solidFill>
                  <a:srgbClr val="6C7480"/>
                </a:solidFill>
                <a:effectLst/>
                <a:latin typeface="Inter"/>
              </a:rPr>
              <a:t>Industrial Decisions</a:t>
            </a:r>
            <a:endParaRPr lang="en-US" sz="4800" b="1" i="0" cap="all" dirty="0">
              <a:solidFill>
                <a:srgbClr val="FFFFFF"/>
              </a:solidFill>
              <a:effectLst/>
              <a:latin typeface="Inter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349DF3-CB28-3A11-796B-34E36F2DFF66}"/>
              </a:ext>
            </a:extLst>
          </p:cNvPr>
          <p:cNvSpPr txBox="1"/>
          <p:nvPr/>
        </p:nvSpPr>
        <p:spPr>
          <a:xfrm>
            <a:off x="599767" y="4069951"/>
            <a:ext cx="6096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600" b="0" i="0" dirty="0">
                <a:solidFill>
                  <a:srgbClr val="6C7480"/>
                </a:solidFill>
                <a:effectLst/>
                <a:latin typeface="Inter"/>
              </a:rPr>
              <a:t>We engineer the right Physics-AI method for your application</a:t>
            </a:r>
            <a:endParaRPr lang="en-US" sz="1600" dirty="0">
              <a:solidFill>
                <a:srgbClr val="6C7480"/>
              </a:solidFill>
              <a:latin typeface="Inter"/>
            </a:endParaRPr>
          </a:p>
          <a:p>
            <a:pPr algn="l">
              <a:buNone/>
            </a:pPr>
            <a:r>
              <a:rPr lang="en-US" sz="1600" b="0" i="0" dirty="0">
                <a:solidFill>
                  <a:srgbClr val="6C7480"/>
                </a:solidFill>
                <a:effectLst/>
                <a:latin typeface="Inter"/>
              </a:rPr>
              <a:t>PINNs where </a:t>
            </a:r>
            <a:r>
              <a:rPr lang="en-US" sz="1600" b="1" i="0" dirty="0">
                <a:solidFill>
                  <a:srgbClr val="6C7480"/>
                </a:solidFill>
                <a:effectLst/>
                <a:latin typeface="Inter"/>
              </a:rPr>
              <a:t>physics constraints </a:t>
            </a:r>
            <a:r>
              <a:rPr lang="en-US" sz="1600" b="0" i="0" dirty="0">
                <a:solidFill>
                  <a:srgbClr val="6C7480"/>
                </a:solidFill>
                <a:effectLst/>
                <a:latin typeface="Inter"/>
              </a:rPr>
              <a:t>allow, surrogates where they don't.</a:t>
            </a:r>
          </a:p>
          <a:p>
            <a:pPr>
              <a:buNone/>
            </a:pPr>
            <a:br>
              <a:rPr lang="en-US" sz="1600" dirty="0"/>
            </a:br>
            <a:endParaRPr lang="en-US" sz="16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14F9E6D-1B58-29C9-BF36-EBB236A899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5767" y="1710831"/>
            <a:ext cx="5240755" cy="329485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D63F059-C672-EB51-2FC4-BED139EEE7B4}"/>
              </a:ext>
            </a:extLst>
          </p:cNvPr>
          <p:cNvSpPr txBox="1"/>
          <p:nvPr/>
        </p:nvSpPr>
        <p:spPr>
          <a:xfrm>
            <a:off x="2005781" y="267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u="none" strike="noStrike" dirty="0">
                <a:solidFill>
                  <a:schemeClr val="bg1"/>
                </a:solidFill>
                <a:effectLst/>
                <a:latin typeface="Inter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Problem</a:t>
            </a:r>
            <a:r>
              <a:rPr lang="en-US" b="0" i="0" u="none" strike="noStrike" dirty="0">
                <a:solidFill>
                  <a:schemeClr val="bg1"/>
                </a:solidFill>
                <a:effectLst/>
                <a:latin typeface="Inter"/>
              </a:rPr>
              <a:t> </a:t>
            </a:r>
            <a:r>
              <a:rPr lang="en-US" b="0" i="0" u="none" strike="noStrike" dirty="0">
                <a:solidFill>
                  <a:srgbClr val="0563C1"/>
                </a:solidFill>
                <a:effectLst/>
                <a:latin typeface="Inter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it </a:t>
            </a:r>
            <a:r>
              <a:rPr lang="en-US" b="0" i="0" u="none" strike="noStrike" dirty="0">
                <a:solidFill>
                  <a:schemeClr val="bg1"/>
                </a:solidFill>
                <a:effectLst/>
                <a:latin typeface="Inter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works</a:t>
            </a:r>
            <a:r>
              <a:rPr lang="en-US" b="0" i="0" u="none" strike="noStrike" dirty="0">
                <a:solidFill>
                  <a:schemeClr val="bg1"/>
                </a:solidFill>
                <a:effectLst/>
                <a:latin typeface="Inter"/>
              </a:rPr>
              <a:t> </a:t>
            </a:r>
            <a:r>
              <a:rPr lang="en-US" b="0" i="0" u="none" strike="noStrike" dirty="0">
                <a:solidFill>
                  <a:schemeClr val="bg1"/>
                </a:solidFill>
                <a:effectLst/>
                <a:latin typeface="Inter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Industries</a:t>
            </a:r>
            <a:r>
              <a:rPr lang="en-US" b="0" i="0" u="none" strike="noStrike" dirty="0">
                <a:solidFill>
                  <a:schemeClr val="bg1"/>
                </a:solidFill>
                <a:effectLst/>
                <a:latin typeface="Inter"/>
              </a:rPr>
              <a:t> </a:t>
            </a:r>
            <a:r>
              <a:rPr lang="en-US" b="0" i="0" u="none" strike="noStrike" dirty="0">
                <a:solidFill>
                  <a:schemeClr val="bg1"/>
                </a:solidFill>
                <a:effectLst/>
                <a:latin typeface="Inter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Products</a:t>
            </a:r>
            <a:r>
              <a:rPr lang="en-US" b="0" i="0" u="none" strike="noStrike" dirty="0">
                <a:solidFill>
                  <a:schemeClr val="bg1"/>
                </a:solidFill>
                <a:effectLst/>
                <a:latin typeface="Inter"/>
              </a:rPr>
              <a:t> </a:t>
            </a:r>
            <a:r>
              <a:rPr lang="en-US" b="0" i="0" u="none" strike="noStrike" dirty="0">
                <a:solidFill>
                  <a:schemeClr val="bg1"/>
                </a:solidFill>
                <a:effectLst/>
                <a:latin typeface="Inter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Method</a:t>
            </a:r>
            <a:r>
              <a:rPr lang="en-US" b="0" i="0" u="none" strike="noStrike" dirty="0">
                <a:solidFill>
                  <a:schemeClr val="bg1"/>
                </a:solidFill>
                <a:effectLst/>
                <a:latin typeface="Inter"/>
              </a:rPr>
              <a:t> </a:t>
            </a:r>
            <a:r>
              <a:rPr lang="en-US" b="0" i="0" u="none" strike="noStrike" dirty="0">
                <a:solidFill>
                  <a:schemeClr val="bg1"/>
                </a:solidFill>
                <a:effectLst/>
                <a:latin typeface="Inter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Cases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A6275DB-8F52-564A-3FB9-DCBDD8FE5C01}"/>
              </a:ext>
            </a:extLst>
          </p:cNvPr>
          <p:cNvSpPr txBox="1"/>
          <p:nvPr/>
        </p:nvSpPr>
        <p:spPr>
          <a:xfrm>
            <a:off x="137652" y="267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u="none" strike="noStrike" cap="all" dirty="0">
                <a:solidFill>
                  <a:srgbClr val="FFFFFF"/>
                </a:solidFill>
                <a:effectLst/>
                <a:latin typeface="Inter"/>
                <a:hlinkClick r:id="rId9"/>
              </a:rPr>
              <a:t>OpSimTech</a:t>
            </a:r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177A55C-BA2B-80CA-DA51-835F5CDBB01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9031" y="4922885"/>
            <a:ext cx="4096322" cy="952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4338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661B517-835C-741A-50B1-AB58D60FF234}"/>
              </a:ext>
            </a:extLst>
          </p:cNvPr>
          <p:cNvSpPr txBox="1"/>
          <p:nvPr/>
        </p:nvSpPr>
        <p:spPr>
          <a:xfrm>
            <a:off x="344129" y="0"/>
            <a:ext cx="1167504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0"/>
              </a:spcAft>
              <a:buNone/>
            </a:pPr>
            <a:r>
              <a:rPr lang="en-US" b="0" i="0" cap="all" dirty="0">
                <a:solidFill>
                  <a:srgbClr val="6C7480"/>
                </a:solidFill>
                <a:effectLst/>
                <a:latin typeface="JetBrains Mono"/>
              </a:rPr>
              <a:t>1- The Problem</a:t>
            </a:r>
            <a:endParaRPr lang="en-US" b="0" i="0" dirty="0">
              <a:solidFill>
                <a:srgbClr val="FFFFFF"/>
              </a:solidFill>
              <a:effectLst/>
              <a:latin typeface="Inter"/>
            </a:endParaRPr>
          </a:p>
          <a:p>
            <a:pPr algn="l">
              <a:spcAft>
                <a:spcPts val="4800"/>
              </a:spcAft>
              <a:buNone/>
            </a:pPr>
            <a:r>
              <a:rPr lang="en-US" sz="2400" b="1" i="0" cap="all" dirty="0">
                <a:solidFill>
                  <a:srgbClr val="FFFFFF"/>
                </a:solidFill>
                <a:effectLst/>
                <a:latin typeface="Inter"/>
              </a:rPr>
              <a:t>The problem with fast models. </a:t>
            </a:r>
            <a:r>
              <a:rPr lang="en-US" sz="2400" b="1" i="0" cap="all" dirty="0">
                <a:solidFill>
                  <a:srgbClr val="6C7480"/>
                </a:solidFill>
                <a:effectLst/>
                <a:latin typeface="Inter"/>
              </a:rPr>
              <a:t>And slow ones.</a:t>
            </a:r>
          </a:p>
          <a:p>
            <a:pPr algn="l">
              <a:spcAft>
                <a:spcPts val="4800"/>
              </a:spcAft>
              <a:buNone/>
            </a:pPr>
            <a:r>
              <a:rPr lang="en-US" b="0" i="0" dirty="0">
                <a:solidFill>
                  <a:srgbClr val="A8B0BC"/>
                </a:solidFill>
                <a:effectLst/>
                <a:latin typeface="Inter"/>
              </a:rPr>
              <a:t>Industry has been forced to choose between two bad options. We built OpSimTech because neither is good enough alone.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D139F38-7B4B-A6E8-5B0E-574DCD9698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7955" y="2275392"/>
            <a:ext cx="8556089" cy="437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2133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789872B-E782-4F8F-10A6-63848020E576}"/>
              </a:ext>
            </a:extLst>
          </p:cNvPr>
          <p:cNvSpPr txBox="1"/>
          <p:nvPr/>
        </p:nvSpPr>
        <p:spPr>
          <a:xfrm>
            <a:off x="332295" y="188784"/>
            <a:ext cx="60944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0" i="0" cap="all" dirty="0">
                <a:solidFill>
                  <a:srgbClr val="6C7480"/>
                </a:solidFill>
                <a:effectLst/>
                <a:latin typeface="JetBrains Mono"/>
              </a:rPr>
              <a:t> 02 — How it works</a:t>
            </a:r>
            <a:endParaRPr lang="en-US" b="0" i="0" dirty="0">
              <a:solidFill>
                <a:srgbClr val="FFFFFF"/>
              </a:solidFill>
              <a:effectLst/>
              <a:latin typeface="Inter"/>
            </a:endParaRPr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F881CF-FDB7-DA72-774E-4D77CE78A80B}"/>
              </a:ext>
            </a:extLst>
          </p:cNvPr>
          <p:cNvSpPr txBox="1"/>
          <p:nvPr/>
        </p:nvSpPr>
        <p:spPr>
          <a:xfrm>
            <a:off x="405354" y="415952"/>
            <a:ext cx="109068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0"/>
              </a:spcAft>
              <a:buNone/>
            </a:pPr>
            <a:r>
              <a:rPr lang="en-US" b="1" i="0" cap="all" dirty="0">
                <a:solidFill>
                  <a:srgbClr val="FFFFFF"/>
                </a:solidFill>
                <a:effectLst/>
                <a:latin typeface="Inter"/>
              </a:rPr>
              <a:t>The OpSimTech </a:t>
            </a:r>
            <a:r>
              <a:rPr lang="en-US" b="1" i="0" cap="all" dirty="0">
                <a:solidFill>
                  <a:srgbClr val="1AE0B5"/>
                </a:solidFill>
                <a:effectLst/>
                <a:latin typeface="Inter"/>
              </a:rPr>
              <a:t>Physics-AI</a:t>
            </a:r>
            <a:r>
              <a:rPr lang="en-US" b="1" i="0" cap="all" dirty="0">
                <a:solidFill>
                  <a:srgbClr val="FFFFFF"/>
                </a:solidFill>
                <a:effectLst/>
                <a:latin typeface="Inter"/>
              </a:rPr>
              <a:t> Stack. </a:t>
            </a:r>
            <a:r>
              <a:rPr lang="en-US" b="0" i="0" dirty="0">
                <a:solidFill>
                  <a:srgbClr val="A8B0BC"/>
                </a:solidFill>
                <a:effectLst/>
                <a:latin typeface="Inter"/>
              </a:rPr>
              <a:t>A three-layer architecture. The ground truth is physics. The acceleration layer is AI. The output is a digital twin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EFB4B8C-DDCC-BE44-DC65-1D4D3605B8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3588" y="838737"/>
            <a:ext cx="5811732" cy="496945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362BA4B-8A19-0704-BBC8-D736B032B0D9}"/>
              </a:ext>
            </a:extLst>
          </p:cNvPr>
          <p:cNvSpPr txBox="1"/>
          <p:nvPr/>
        </p:nvSpPr>
        <p:spPr>
          <a:xfrm>
            <a:off x="190108" y="6163993"/>
            <a:ext cx="120018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0"/>
              </a:spcAft>
            </a:pPr>
            <a:r>
              <a:rPr lang="en-US" b="1" dirty="0">
                <a:solidFill>
                  <a:srgbClr val="FFFFFF"/>
                </a:solidFill>
              </a:rPr>
              <a:t>tips: for each layer like L2 and L3, I need to have graphical and professional cards containing a photo defining each subsection like </a:t>
            </a:r>
            <a:r>
              <a:rPr lang="en-US" b="1" dirty="0" err="1">
                <a:solidFill>
                  <a:srgbClr val="FFFFFF"/>
                </a:solidFill>
              </a:rPr>
              <a:t>CFd</a:t>
            </a:r>
            <a:r>
              <a:rPr lang="en-US" b="1" dirty="0">
                <a:solidFill>
                  <a:srgbClr val="FFFFFF"/>
                </a:solidFill>
              </a:rPr>
              <a:t>, SPH, DEM, PINNS, etc.. Why you put CFD.SPH, PINNS, </a:t>
            </a:r>
            <a:r>
              <a:rPr lang="en-US" b="1" dirty="0" err="1">
                <a:solidFill>
                  <a:srgbClr val="FFFFFF"/>
                </a:solidFill>
              </a:rPr>
              <a:t>etc</a:t>
            </a:r>
            <a:r>
              <a:rPr lang="en-US" b="1" dirty="0">
                <a:solidFill>
                  <a:srgbClr val="FFFFFF"/>
                </a:solidFill>
              </a:rPr>
              <a:t> in small fonts like tags? If not necessary for SEO, omit. 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1048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2AD3B53-9526-FBA4-235C-657D399A4F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4531" y="155870"/>
            <a:ext cx="8898903" cy="55793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FBEB5D1-38F4-E00B-FC36-991B6AF48B35}"/>
              </a:ext>
            </a:extLst>
          </p:cNvPr>
          <p:cNvSpPr txBox="1"/>
          <p:nvPr/>
        </p:nvSpPr>
        <p:spPr>
          <a:xfrm>
            <a:off x="190108" y="6163993"/>
            <a:ext cx="120018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0"/>
              </a:spcAft>
            </a:pPr>
            <a:r>
              <a:rPr lang="en-US" b="1" dirty="0"/>
              <a:t>tips: for each section I need to put a background photo defining each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21071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BE8C642-B32E-8068-56F4-634D16717E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2823" y="254524"/>
            <a:ext cx="8026353" cy="58069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BD18AD4-B7FA-98C5-2479-09897E7CAC80}"/>
              </a:ext>
            </a:extLst>
          </p:cNvPr>
          <p:cNvSpPr txBox="1"/>
          <p:nvPr/>
        </p:nvSpPr>
        <p:spPr>
          <a:xfrm>
            <a:off x="0" y="6061492"/>
            <a:ext cx="1200189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0"/>
              </a:spcAft>
            </a:pPr>
            <a:r>
              <a:rPr lang="en-US" b="1" dirty="0"/>
              <a:t>tips: in </a:t>
            </a:r>
            <a:r>
              <a:rPr lang="en-US" b="1" dirty="0" err="1"/>
              <a:t>opsimbat</a:t>
            </a:r>
            <a:r>
              <a:rPr lang="en-US" b="1" dirty="0"/>
              <a:t>, do not mention SPH-based. Write, Real-time digital twin for mixing, coating and calendaring process stages of electrode manufacturing based on CFD, SPH and DEM modeling results fused with sensor data (rephrase). I also need to have option of changing the photo for each card.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16698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DE175FB-15C6-96D5-6780-F026BB17558C}"/>
              </a:ext>
            </a:extLst>
          </p:cNvPr>
          <p:cNvSpPr txBox="1"/>
          <p:nvPr/>
        </p:nvSpPr>
        <p:spPr>
          <a:xfrm>
            <a:off x="0" y="1263249"/>
            <a:ext cx="12001892" cy="587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0"/>
              </a:spcAft>
            </a:pPr>
            <a:r>
              <a:rPr lang="en-US" b="1" dirty="0"/>
              <a:t>tips: </a:t>
            </a:r>
          </a:p>
          <a:p>
            <a:pPr rtl="1"/>
            <a:r>
              <a:rPr lang="en-US" b="1" dirty="0"/>
              <a:t>1- After defining digital twins (products), omit sections for “</a:t>
            </a:r>
            <a:r>
              <a:rPr lang="en-US" b="1" cap="all" dirty="0"/>
              <a:t>Physics-grounded. Decision-ready</a:t>
            </a:r>
          </a:p>
          <a:p>
            <a:pPr rtl="1"/>
            <a:r>
              <a:rPr lang="en-US" b="1" dirty="0"/>
              <a:t> “ “</a:t>
            </a:r>
            <a:r>
              <a:rPr lang="en-US" b="1" cap="all" dirty="0"/>
              <a:t>Real fleets. Real factories. Real numbers.</a:t>
            </a:r>
            <a:r>
              <a:rPr lang="en-US" b="1" dirty="0"/>
              <a:t>“ and go to “</a:t>
            </a:r>
            <a:r>
              <a:rPr lang="en-US" b="1" cap="all" dirty="0"/>
              <a:t>Ready to build a</a:t>
            </a:r>
            <a:br>
              <a:rPr lang="en-US" b="1" cap="all" dirty="0"/>
            </a:br>
            <a:r>
              <a:rPr lang="en-US" b="1" cap="all" dirty="0"/>
              <a:t>digital twin</a:t>
            </a:r>
            <a:br>
              <a:rPr lang="en-US" b="1" cap="all" dirty="0"/>
            </a:br>
            <a:r>
              <a:rPr lang="en-US" b="1" cap="all" dirty="0"/>
              <a:t>engineers can trust?</a:t>
            </a:r>
          </a:p>
          <a:p>
            <a:pPr rtl="1"/>
            <a:r>
              <a:rPr lang="en-US" b="1" dirty="0"/>
              <a:t>“</a:t>
            </a:r>
          </a:p>
          <a:p>
            <a:pPr>
              <a:spcAft>
                <a:spcPts val="4800"/>
              </a:spcAft>
            </a:pPr>
            <a:r>
              <a:rPr lang="en-US" b="1" dirty="0"/>
              <a:t>2- we have “method”, “Our simulation toolkit” and “how it works” which are related to each other. I propose make a “explore more” button below the “how it works” section in the first page and transfer the method content to that page linked to this button.  </a:t>
            </a:r>
          </a:p>
          <a:p>
            <a:pPr>
              <a:spcAft>
                <a:spcPts val="4800"/>
              </a:spcAft>
            </a:pPr>
            <a:r>
              <a:rPr lang="en-US" b="1" dirty="0"/>
              <a:t>3- make fonts reasonable look at the scales here. </a:t>
            </a:r>
          </a:p>
          <a:p>
            <a:pPr>
              <a:spcAft>
                <a:spcPts val="4800"/>
              </a:spcAft>
            </a:pPr>
            <a:r>
              <a:rPr lang="en-US" b="1" dirty="0"/>
              <a:t>4- make insights section with contents transferred from the current opsimtech website. </a:t>
            </a:r>
          </a:p>
          <a:p>
            <a:pPr>
              <a:spcAft>
                <a:spcPts val="4800"/>
              </a:spcAft>
            </a:pPr>
            <a:endParaRPr lang="en-US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9E6C72-C9C3-82EA-2219-1692BDFFC4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2089" y="4202515"/>
            <a:ext cx="4349911" cy="2552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0793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1990</TotalTime>
  <Words>387</Words>
  <Application>Microsoft Office PowerPoint</Application>
  <PresentationFormat>Widescreen</PresentationFormat>
  <Paragraphs>23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Inter</vt:lpstr>
      <vt:lpstr>JetBrains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opsimtech ai</dc:creator>
  <cp:lastModifiedBy>opsimtech ai</cp:lastModifiedBy>
  <cp:revision>2</cp:revision>
  <dcterms:created xsi:type="dcterms:W3CDTF">2026-05-18T04:55:22Z</dcterms:created>
  <dcterms:modified xsi:type="dcterms:W3CDTF">2026-05-19T14:05:46Z</dcterms:modified>
</cp:coreProperties>
</file>